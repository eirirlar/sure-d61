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SuRE WP6 — Sunlit Sea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Review Meeting</a:t>
            </a:r>
            <a:br/>
            <a:br/>
            <a:r>
              <a:rPr/>
              <a:t>Eirik Larsen, Sunlit Sea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WP6 — what was committed (DoW)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Overall goal:</a:t>
            </a:r>
            <a:r>
              <a:rPr/>
              <a:t> Build an integrated model chain — aluminium pressing simulation, structural FEM, thermal CFD, and LCA — and use it to drive multi-dimensional optimisation of Sunlit’s floater design.</a:t>
            </a:r>
          </a:p>
          <a:p>
            <a:pPr lvl="0" indent="0" marL="0">
              <a:buNone/>
            </a:pPr>
            <a:r>
              <a:rPr b="1"/>
              <a:t>TRL commitment:</a:t>
            </a:r>
            <a:r>
              <a:rPr/>
              <a:t> TRL 2 → TRL 6</a:t>
            </a:r>
          </a:p>
          <a:p>
            <a:pPr lvl="0" indent="0" marL="0">
              <a:buNone/>
            </a:pPr>
            <a:r>
              <a:rPr b="1"/>
              <a:t>Key KPIs:</a:t>
            </a:r>
          </a:p>
          <a:p>
            <a:pPr lvl="0"/>
            <a:r>
              <a:rPr/>
              <a:t>50% reduction in aluminium material consumption</a:t>
            </a:r>
          </a:p>
          <a:p>
            <a:pPr lvl="0"/>
            <a:r>
              <a:rPr/>
              <a:t>~3% thermal loss reduction (~6°C lower operating temperature)</a:t>
            </a:r>
          </a:p>
          <a:p>
            <a:pPr lvl="0"/>
            <a:r>
              <a:rPr/>
              <a:t>SSC5 structural validation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 track — milestone status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D6.1 — model chain architecture + pressing pipeline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Delivered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Pressing simulation pipeline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— ~3,900 runs; 1,300 Pareto-filtered candidates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First full CAD → FEM → redesign loop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(P3 → P4)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Gen2 prototype development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P3 built and under test; P4 design closed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WP6 is on track with all DoW commitments at first review.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D6.1 — what’s been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D6.1 documents the model chain architecture and delivers first modelling results:</a:t>
            </a:r>
          </a:p>
          <a:p>
            <a:pPr lvl="0"/>
            <a:r>
              <a:rPr b="1"/>
              <a:t>Interfaces defined</a:t>
            </a:r>
            <a:r>
              <a:rPr/>
              <a:t> — 19 physical component interfaces (I1–I19) and 6 model-to-model data interfaces (I-1 to I-6)</a:t>
            </a:r>
          </a:p>
          <a:p>
            <a:pPr lvl="0"/>
            <a:r>
              <a:rPr b="1"/>
              <a:t>Pressing pipeline</a:t>
            </a:r>
            <a:r>
              <a:rPr/>
              <a:t> — ~3,900 forming simulations; 1,300 Pareto-filtered geometries ready for multi-domain screening in D6.2</a:t>
            </a:r>
          </a:p>
          <a:p>
            <a:pPr lvl="0"/>
            <a:r>
              <a:rPr b="1"/>
              <a:t>Structural FEM</a:t>
            </a:r>
            <a:r>
              <a:rPr/>
              <a:t> — first SiSim analysis on P3 by IFE complete; load paths and failure modes identified</a:t>
            </a:r>
          </a:p>
          <a:p>
            <a:pPr lvl="0"/>
            <a:r>
              <a:rPr b="1"/>
              <a:t>Thermal CFD</a:t>
            </a:r>
            <a:r>
              <a:rPr/>
              <a:t> — model built and run for Gen2 geometry; result already driving a production decision</a:t>
            </a:r>
          </a:p>
          <a:p>
            <a:pPr lvl="0"/>
            <a:r>
              <a:rPr b="1"/>
              <a:t>Screening methodology</a:t>
            </a:r>
            <a:r>
              <a:rPr/>
              <a:t> — four-domain pass/fail framework defined; execution is the D6.2 headline deliverable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 progress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Evidence at first review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Aluminium reduction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Pressing pipeline operational; 1,300 candidates span 0.8–1.5 mm range; quantified reduction delivered in D6.2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Thermal loss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~3% / 6°C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CFD drives colour change: worst-case hinge temp drops </a:t>
                      </a:r>
                      <a:r>
                        <a:rPr b="1"/>
                        <a:t>83.8°C → 48.3°C</a:t>
                      </a:r>
                      <a:r>
                        <a:rPr/>
                        <a:t>; implemented in Gen2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SSC5 structural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IFE FEM confirms infill critical; P4 redesign complete; validated FEM with infill in D6.2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model chain in practice — first complete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core WP6 claim is that modelling drives design decisions. This loop has been completed once:</a:t>
            </a:r>
          </a:p>
          <a:p>
            <a:pPr lvl="0" indent="-342900" marL="342900">
              <a:buAutoNum type="arabicPeriod"/>
            </a:pPr>
            <a:r>
              <a:rPr/>
              <a:t>P3 geometry built in parametric FreeCAD</a:t>
            </a:r>
          </a:p>
          <a:p>
            <a:pPr lvl="0" indent="-342900" marL="342900">
              <a:buAutoNum type="arabicPeriod"/>
            </a:pPr>
            <a:r>
              <a:rPr/>
              <a:t>STEP file exported to IFE (interface I-2)</a:t>
            </a:r>
          </a:p>
          <a:p>
            <a:pPr lvl="0" indent="-342900" marL="342900">
              <a:buAutoNum type="arabicPeriod"/>
            </a:pPr>
            <a:r>
              <a:rPr/>
              <a:t>IFE ran SiSim FEM — 10 mm imposed horizontal elongation</a:t>
            </a:r>
          </a:p>
          <a:p>
            <a:pPr lvl="0" indent="-342900" marL="342900">
              <a:buAutoNum type="arabicPeriod"/>
            </a:pPr>
            <a:r>
              <a:rPr/>
              <a:t>Findings: insufficient freeboard; aluminium and PU near/above yield; glass attachment sensitive to mounting method</a:t>
            </a:r>
          </a:p>
          <a:p>
            <a:pPr lvl="0" indent="-342900" marL="342900">
              <a:buAutoNum type="arabicPeriod"/>
            </a:pPr>
            <a:r>
              <a:rPr/>
              <a:t>Findings drove P4: hinge geometry revised, buoyant PU rods on all four sides, load paths rerouted away from PU–glass interfaces</a:t>
            </a:r>
          </a:p>
          <a:p>
            <a:pPr lvl="0" indent="0" marL="0">
              <a:buNone/>
            </a:pPr>
            <a:r>
              <a:rPr/>
              <a:t>This is the TRL advancement the DoW describes.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IFE findings → P4 design responses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IFE finding maps to a concrete P4 design change: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IFE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 response in P4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 and PU near/above yield (simulated without infill — deliberate)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Infill confirmed structurally necessary; PU foam with adhesive bonding selected for next FEM run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Insufficient freeboard / deep submergence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Rod dimensions adjusted; angled bottom plate under evaluation to shift float toward water surface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Glass stresses sensitive to panel–frame attachment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Hinge redesigned to route loads away from PU–glass and PU–Al interfaces; attachment method treated as explicit variable in next simulation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P3 — built, mold-to-cast workflow validated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Metal mold produced and cast — the FreeCAD → 3D-print → metal mold → PU cast workflow is proven end to end</a:t>
            </a:r>
          </a:p>
          <a:p>
            <a:pPr lvl="0"/>
            <a:r>
              <a:rPr/>
              <a:t>Full P3 sample now in UV chamber at IFE; loose hinges in tensile and shear testing</a:t>
            </a:r>
          </a:p>
          <a:p>
            <a:pPr lvl="0"/>
            <a:r>
              <a:rPr/>
              <a:t>PU tensile + UV degradation running at revised A1 protocol (~75°C max on samples) for clean 1000 h dataset</a:t>
            </a:r>
          </a:p>
        </p:txBody>
      </p:sp>
      <p:pic>
        <p:nvPicPr>
          <p:cNvPr descr="images/gen2_prototyp3_casting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47800"/>
            <a:ext cx="40386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P3 after PU casting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P4 — design closed, casting upcoming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changes from IFE findings now locked in:</a:t>
            </a:r>
          </a:p>
          <a:p>
            <a:pPr lvl="0"/>
            <a:r>
              <a:rPr/>
              <a:t>Hinge geometry revised — load transfer shifted toward centre, away from PU–glass and PU–Al interfaces</a:t>
            </a:r>
          </a:p>
          <a:p>
            <a:pPr lvl="0"/>
            <a:r>
              <a:rPr/>
              <a:t>Buoyant PU foam rods on all four sides — dual function: connector and added buoyancy</a:t>
            </a:r>
          </a:p>
          <a:p>
            <a:pPr lvl="0"/>
            <a:r>
              <a:rPr/>
              <a:t>Infill redesigned — puzzle-fit multi-piece PU foam eliminates air cavities around junction boxes</a:t>
            </a:r>
          </a:p>
          <a:p>
            <a:pPr lvl="0" indent="0" marL="0">
              <a:buNone/>
            </a:pPr>
            <a:r>
              <a:rPr/>
              <a:t>Mold designed in FreeCAD; 3D-printed mold trial upcoming.</a:t>
            </a:r>
          </a:p>
        </p:txBody>
      </p:sp>
      <p:pic>
        <p:nvPicPr>
          <p:cNvPr descr="images/gen2_prototyp4_freecad_connector_buoyant_PUfoam_rods_4sid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62500" y="1193800"/>
            <a:ext cx="381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P4 buoyant 4-side connector concept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D6.2 — completing the chain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of the ~1,300 pressing candidates is evaluated across four domains in sequence. Pass/fail at each stage reduces the pool to a design short-list:</a:t>
            </a:r>
          </a:p>
          <a:p>
            <a:pPr lvl="0" indent="-342900" marL="342900">
              <a:buAutoNum type="arabicPeriod"/>
            </a:pPr>
            <a:r>
              <a:rPr b="1"/>
              <a:t>Manufacturing feasibility</a:t>
            </a:r>
            <a:r>
              <a:rPr/>
              <a:t> — already filtered in D6.1</a:t>
            </a:r>
          </a:p>
          <a:p>
            <a:pPr lvl="0" indent="-342900" marL="342900">
              <a:buAutoNum type="arabicPeriod"/>
            </a:pPr>
            <a:r>
              <a:rPr b="1"/>
              <a:t>Structural</a:t>
            </a:r>
            <a:r>
              <a:rPr/>
              <a:t> — peak stresses from SiSim (interfaces I-2 / I-3)</a:t>
            </a:r>
          </a:p>
          <a:p>
            <a:pPr lvl="0" indent="-342900" marL="342900">
              <a:buAutoNum type="arabicPeriod"/>
            </a:pPr>
            <a:r>
              <a:rPr b="1"/>
              <a:t>Thermal</a:t>
            </a:r>
            <a:r>
              <a:rPr/>
              <a:t> — peak PU temperature from CFD (interface I-4)</a:t>
            </a:r>
          </a:p>
          <a:p>
            <a:pPr lvl="0" indent="-342900" marL="342900">
              <a:buAutoNum type="arabicPeriod"/>
            </a:pPr>
            <a:r>
              <a:rPr b="1"/>
              <a:t>Life-cycle impact</a:t>
            </a:r>
            <a:r>
              <a:rPr/>
              <a:t> — material and process data to TNO LCA (interface I-5)</a:t>
            </a:r>
          </a:p>
          <a:p>
            <a:pPr lvl="0" indent="0" marL="0">
              <a:buNone/>
            </a:pPr>
            <a:r>
              <a:rPr/>
              <a:t>All four interfaces will be implemented by D6.2: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D6.1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D6.2 target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I-2: CAD → FEM (STEP)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Manual, demonstrated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Automated; STEP version and simplifications documented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I-3: Thickness field → FEM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Implemented: LS-DYNA → SiSim/PATRAN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I-4: Geometry → thermal CFD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Manual, demonstrated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Formalised; material property list agreed with IFE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I-5: Design data → LCA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 hoc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Versioned template; functional unit and system boundary confirmed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D6.1 delivered</a:t>
            </a:r>
            <a:r>
              <a:rPr/>
              <a:t> — model chain architecture, pressing pipeline, first FEM and CFD results</a:t>
            </a:r>
          </a:p>
          <a:p>
            <a:pPr lvl="0"/>
            <a:r>
              <a:rPr b="1"/>
              <a:t>First model loop completed</a:t>
            </a:r>
            <a:r>
              <a:rPr/>
              <a:t> — CAD → FEM → findings → revised design working in practice</a:t>
            </a:r>
          </a:p>
          <a:p>
            <a:pPr lvl="0"/>
            <a:r>
              <a:rPr b="1"/>
              <a:t>Thermal CFD drives a production decision</a:t>
            </a:r>
            <a:r>
              <a:rPr/>
              <a:t> — 83.8°C → 48.3°C; off-white PU implemented in Gen2</a:t>
            </a:r>
          </a:p>
          <a:p>
            <a:pPr lvl="0"/>
            <a:r>
              <a:rPr b="1"/>
              <a:t>Prototype on schedule</a:t>
            </a:r>
            <a:r>
              <a:rPr/>
              <a:t> — P3 built and under test; P4 design closed</a:t>
            </a:r>
          </a:p>
          <a:p>
            <a:pPr lvl="0"/>
            <a:r>
              <a:rPr b="1"/>
              <a:t>D6.2 roadmap clear</a:t>
            </a:r>
            <a:r>
              <a:rPr/>
              <a:t> — four interfaces to be implemented; 1,300 candidates screened; design recommendation produced</a:t>
            </a:r>
          </a:p>
        </p:txBody>
      </p:sp>
      <p:pic>
        <p:nvPicPr>
          <p:cNvPr descr="images/gen2_matrix_installed_rendered_still_wat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SuRE WP6 — Sunlit Sea</dc:title>
  <dc:creator>Eirik Larsen, Sunlit Sea</dc:creator>
  <cp:keywords/>
  <dcterms:created xsi:type="dcterms:W3CDTF">2026-06-11T14:18:04Z</dcterms:created>
  <dcterms:modified xsi:type="dcterms:W3CDTF">2026-06-11T14:18:04Z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First Review Meeting</vt:lpwstr>
  </property>
</Properties>
</file>